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c14ef7130624994" /><Relationship Type="http://schemas.openxmlformats.org/officeDocument/2006/relationships/extended-properties" Target="/docProps/app.xml" Id="Re44da6a4e4e34a15" /><Relationship Type="http://schemas.openxmlformats.org/officeDocument/2006/relationships/officeDocument" Target="/ppt/presentation.xml" Id="R9fb5a21aa184479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d63a6866dcf4f72"/>
  </p:sldMasterIdLst>
  <p:notesMasterIdLst>
    <p:notesMasterId xmlns:r="http://schemas.openxmlformats.org/officeDocument/2006/relationships" r:id="R60e92ccf4d5a4801"/>
  </p:notesMasterIdLst>
  <p:sldIdLst>
    <p:sldId xmlns:r="http://schemas.openxmlformats.org/officeDocument/2006/relationships" id="256" r:id="Rcf22fccc968c4955"/>
    <p:sldId xmlns:r="http://schemas.openxmlformats.org/officeDocument/2006/relationships" id="257" r:id="Ra05608a295d34a04"/>
    <p:sldId xmlns:r="http://schemas.openxmlformats.org/officeDocument/2006/relationships" id="258" r:id="R9490df881c304be8"/>
    <p:sldId xmlns:r="http://schemas.openxmlformats.org/officeDocument/2006/relationships" id="259" r:id="R38c9d6c08e2442a1"/>
    <p:sldId xmlns:r="http://schemas.openxmlformats.org/officeDocument/2006/relationships" id="260" r:id="R97662f1f0b3042d8"/>
    <p:sldId xmlns:r="http://schemas.openxmlformats.org/officeDocument/2006/relationships" id="261" r:id="R921536b74bd84a2b"/>
    <p:sldId xmlns:r="http://schemas.openxmlformats.org/officeDocument/2006/relationships" id="262" r:id="Ref18952546984198"/>
    <p:sldId xmlns:r="http://schemas.openxmlformats.org/officeDocument/2006/relationships" id="263" r:id="R077bf32bfb724d5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274e49e134f453a" /><Relationship Type="http://schemas.openxmlformats.org/officeDocument/2006/relationships/slideMaster" Target="/ppt/slideMasters/slideMaster1.xml" Id="R3d63a6866dcf4f72" /><Relationship Type="http://schemas.openxmlformats.org/officeDocument/2006/relationships/notesMaster" Target="/ppt/notesMasters/notesMaster1.xml" Id="R60e92ccf4d5a4801" /><Relationship Type="http://schemas.openxmlformats.org/officeDocument/2006/relationships/presProps" Target="/ppt/presProps.xml" Id="R8c3b481b6e3a4c1f" /><Relationship Type="http://schemas.openxmlformats.org/officeDocument/2006/relationships/tableStyles" Target="/ppt/tableStyles.xml" Id="R640f692be92f42f8" /><Relationship Type="http://schemas.openxmlformats.org/officeDocument/2006/relationships/slide" Target="/ppt/slides/slide1.xml" Id="Rcf22fccc968c4955" /><Relationship Type="http://schemas.openxmlformats.org/officeDocument/2006/relationships/slide" Target="/ppt/slides/slide2.xml" Id="Ra05608a295d34a04" /><Relationship Type="http://schemas.openxmlformats.org/officeDocument/2006/relationships/slide" Target="/ppt/slides/slide3.xml" Id="R9490df881c304be8" /><Relationship Type="http://schemas.openxmlformats.org/officeDocument/2006/relationships/slide" Target="/ppt/slides/slide4.xml" Id="R38c9d6c08e2442a1" /><Relationship Type="http://schemas.openxmlformats.org/officeDocument/2006/relationships/slide" Target="/ppt/slides/slide5.xml" Id="R97662f1f0b3042d8" /><Relationship Type="http://schemas.openxmlformats.org/officeDocument/2006/relationships/slide" Target="/ppt/slides/slide6.xml" Id="R921536b74bd84a2b" /><Relationship Type="http://schemas.openxmlformats.org/officeDocument/2006/relationships/slide" Target="/ppt/slides/slide7.xml" Id="Ref18952546984198" /><Relationship Type="http://schemas.openxmlformats.org/officeDocument/2006/relationships/slide" Target="/ppt/slides/slide8.xml" Id="R077bf32bfb724d5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5d888ba890048d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5fe06c0b667495f" /><Relationship Type="http://schemas.openxmlformats.org/officeDocument/2006/relationships/notesMaster" Target="/ppt/notesMasters/notesMaster1.xml" Id="R1d2460468958406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3128f89a5334367" /><Relationship Type="http://schemas.openxmlformats.org/officeDocument/2006/relationships/notesMaster" Target="/ppt/notesMasters/notesMaster1.xml" Id="Ra23e41de8986485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8595bf024bb4975" /><Relationship Type="http://schemas.openxmlformats.org/officeDocument/2006/relationships/notesMaster" Target="/ppt/notesMasters/notesMaster1.xml" Id="R6110f6cd6f334ba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d7b41642b264d0c" /><Relationship Type="http://schemas.openxmlformats.org/officeDocument/2006/relationships/notesMaster" Target="/ppt/notesMasters/notesMaster1.xml" Id="Rd880005e464f437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b00900a90c44f67" /><Relationship Type="http://schemas.openxmlformats.org/officeDocument/2006/relationships/notesMaster" Target="/ppt/notesMasters/notesMaster1.xml" Id="R2922b3edf8d2440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d75025c07d14cab" /><Relationship Type="http://schemas.openxmlformats.org/officeDocument/2006/relationships/notesMaster" Target="/ppt/notesMasters/notesMaster1.xml" Id="R916c9ef065a04d1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2cb9a00a4b34a36" /><Relationship Type="http://schemas.openxmlformats.org/officeDocument/2006/relationships/notesMaster" Target="/ppt/notesMasters/notesMaster1.xml" Id="R465c4460f764470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72b6674b2764265" /><Relationship Type="http://schemas.openxmlformats.org/officeDocument/2006/relationships/notesMaster" Target="/ppt/notesMasters/notesMaster1.xml" Id="Ra4dec1a639564a9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69b8a64b5444c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732dc2d0e74424d" /><Relationship Type="http://schemas.openxmlformats.org/officeDocument/2006/relationships/slideLayout" Target="/ppt/slideLayouts/slideLayout1.xml" Id="R52575c07eb934c4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2575c07eb934c4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d2349939ab408b" /><Relationship Type="http://schemas.openxmlformats.org/officeDocument/2006/relationships/notesSlide" Target="/ppt/notesSlides/notesSlide1.xml" Id="R6d21109b54bd4d0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0b27905379432a" /><Relationship Type="http://schemas.openxmlformats.org/officeDocument/2006/relationships/notesSlide" Target="/ppt/notesSlides/notesSlide2.xml" Id="R166dc739cbc44f2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fbd794050d417f" /><Relationship Type="http://schemas.openxmlformats.org/officeDocument/2006/relationships/notesSlide" Target="/ppt/notesSlides/notesSlide3.xml" Id="Rde7ef15b6d9444b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63fd56130e4b6a" /><Relationship Type="http://schemas.openxmlformats.org/officeDocument/2006/relationships/notesSlide" Target="/ppt/notesSlides/notesSlide4.xml" Id="Rcf3aeead985a436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f34746d0164796" /><Relationship Type="http://schemas.openxmlformats.org/officeDocument/2006/relationships/notesSlide" Target="/ppt/notesSlides/notesSlide5.xml" Id="R8a3ce1df5f1e490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d13c596814451b" /><Relationship Type="http://schemas.openxmlformats.org/officeDocument/2006/relationships/notesSlide" Target="/ppt/notesSlides/notesSlide6.xml" Id="Rf1e05dda1ff2421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4c370c282b4e92" /><Relationship Type="http://schemas.openxmlformats.org/officeDocument/2006/relationships/image" Target="/ppt/media/image.png" Id="Rabaab2f203e741c8" /><Relationship Type="http://schemas.openxmlformats.org/officeDocument/2006/relationships/image" Target="/ppt/media/image2.png" Id="R0939bc2896014937" /><Relationship Type="http://schemas.openxmlformats.org/officeDocument/2006/relationships/notesSlide" Target="/ppt/notesSlides/notesSlide7.xml" Id="R1854fab906784e0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c3bb8ed6c746d2" /><Relationship Type="http://schemas.openxmlformats.org/officeDocument/2006/relationships/notesSlide" Target="/ppt/notesSlides/notesSlide8.xml" Id="Rb78eb7c150894d4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5B32B25A-35AA-47C2-A879-41C6824D5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81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D28D9"/>
                </a:solidFill>
              </a:defRPr>
            </a:pPr>
            <a:r>
              <a:rPr sz="1650" b="1">
                <a:solidFill>
                  <a:srgbClr val="6D28D9"/>
                </a:solidFill>
              </a:rPr>
              <a:t>ENTREGA FINAL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4450378D-97FA-481C-A12E-8115B7A49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111111"/>
                </a:solidFill>
              </a:defRPr>
            </a:pPr>
            <a:r>
              <a:rPr sz="4800" b="1">
                <a:solidFill>
                  <a:srgbClr val="111111"/>
                </a:solidFill>
              </a:rPr>
              <a:t>Booking con agente IA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4597746A-DDF7-47E2-A5A1-877843B23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28950"/>
            <a:ext cx="752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55555"/>
                </a:solidFill>
              </a:defRPr>
            </a:pPr>
            <a:r>
              <a:rPr sz="2025" b="0">
                <a:solidFill>
                  <a:srgbClr val="555555"/>
                </a:solidFill>
              </a:rPr>
              <a:t>Backend Django REST para gestion de propiedades, disponibilidad y reservas asistidas por IA.</a:t>
            </a:r>
          </a:p>
        </p:txBody>
      </p:sp>
      <p:sp>
        <p:nvSpPr>
          <p:cNvPr id="4" name="shape">
            <a:extLst xmlns:a="http://schemas.openxmlformats.org/drawingml/2006/main">
              <a:ext uri="{FF2B5EF4-FFF2-40B4-BE49-F238E27FC236}">
                <a16:creationId xmlns:a16="http://schemas.microsoft.com/office/drawing/2014/main" id="{2C84FD77-0C63-4EF1-ADC3-D5A56D6C2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05300"/>
            <a:ext cx="5905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1E16CBBA-6639-4728-8DF3-9A1355668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52950"/>
            <a:ext cx="542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Version 1.0.0  |  API REST  |  Agente conversacional  |  Tests OK</a:t>
            </a:r>
          </a:p>
        </p:txBody>
      </p:sp>
      <p:sp>
        <p:nvSpPr>
          <p:cNvPr id="6" name="shape">
            <a:extLst xmlns:a="http://schemas.openxmlformats.org/drawingml/2006/main">
              <a:ext uri="{FF2B5EF4-FFF2-40B4-BE49-F238E27FC236}">
                <a16:creationId xmlns:a16="http://schemas.microsoft.com/office/drawing/2014/main" id="{10CF8AD3-7B98-4EE5-BA68-F504328D2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914400"/>
            <a:ext cx="25717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CFAF0F54-27BA-449C-8228-9F9580E98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524000"/>
            <a:ext cx="1905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6D28D9"/>
                </a:solidFill>
              </a:defRPr>
            </a:pPr>
            <a:r>
              <a:rPr sz="3300" b="1">
                <a:solidFill>
                  <a:srgbClr val="6D28D9"/>
                </a:solidFill>
              </a:rPr>
              <a:t>Demo</a:t>
            </a:r>
          </a:p>
          <a:p xmlns:a="http://schemas.openxmlformats.org/drawingml/2006/main">
            <a:pPr algn="ctr">
              <a:defRPr sz="3300" b="1">
                <a:solidFill>
                  <a:srgbClr val="6D28D9"/>
                </a:solidFill>
              </a:defRPr>
            </a:pPr>
            <a:r>
              <a:rPr sz="3300" b="1">
                <a:solidFill>
                  <a:srgbClr val="6D28D9"/>
                </a:solidFill>
              </a:rPr>
              <a:t>Backend</a:t>
            </a:r>
          </a:p>
          <a:p xmlns:a="http://schemas.openxmlformats.org/drawingml/2006/main">
            <a:pPr algn="ctr">
              <a:defRPr sz="3300" b="1">
                <a:solidFill>
                  <a:srgbClr val="6D28D9"/>
                </a:solidFill>
              </a:defRPr>
            </a:pPr>
            <a:r>
              <a:rPr sz="3300" b="1">
                <a:solidFill>
                  <a:srgbClr val="6D28D9"/>
                </a:solidFill>
              </a:rPr>
              <a:t>IA</a:t>
            </a:r>
          </a:p>
          <a:p xmlns:a="http://schemas.openxmlformats.org/drawingml/2006/main">
            <a:pPr algn="ctr">
              <a:defRPr sz="3300" b="1">
                <a:solidFill>
                  <a:srgbClr val="6D28D9"/>
                </a:solidFill>
              </a:defRPr>
            </a:pPr>
            <a:r>
              <a:rPr sz="3300" b="1">
                <a:solidFill>
                  <a:srgbClr val="6D28D9"/>
                </a:solidFill>
              </a:rPr>
              <a:t>Reservas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A40B7914-3CAE-4D5C-B7A9-B4BF3EF78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Practica PP - Booking con agente IA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7A0C988B-6D23-41BD-8C55-8138E5093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1/8</a:t>
            </a:r>
          </a:p>
        </p:txBody>
      </p:sp>
    </p:spTree>
    <p:extLst>
      <p:ext uri="{BB962C8B-B14F-4D97-AF65-F5344CB8AC3E}">
        <p14:creationId xmlns:p14="http://schemas.microsoft.com/office/powerpoint/2010/main" val="90496401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9FA43A52-EA4F-49DA-BCD3-9FFA8F0DF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D28D9"/>
                </a:solidFill>
              </a:defRPr>
            </a:pPr>
            <a:r>
              <a:rPr sz="1200" b="1">
                <a:solidFill>
                  <a:srgbClr val="6D28D9"/>
                </a:solidFill>
              </a:rPr>
              <a:t>01 / AGENDA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19345C21-5EDA-4C3B-AA83-CD2F8EAEE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111"/>
                </a:solidFill>
              </a:defRPr>
            </a:pPr>
            <a:r>
              <a:rPr sz="3300" b="1">
                <a:solidFill>
                  <a:srgbClr val="111111"/>
                </a:solidFill>
              </a:rPr>
              <a:t>Estructura de la presentacion</a:t>
            </a:r>
          </a:p>
        </p:txBody>
      </p:sp>
      <p:sp>
        <p:nvSpPr>
          <p:cNvPr id="3" name="shape">
            <a:extLst xmlns:a="http://schemas.openxmlformats.org/drawingml/2006/main">
              <a:ext uri="{FF2B5EF4-FFF2-40B4-BE49-F238E27FC236}">
                <a16:creationId xmlns:a16="http://schemas.microsoft.com/office/drawing/2014/main" id="{9712D0F0-4FD4-4B7A-86B1-6252800EF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859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91669D05-C144-41A7-9706-74F213A62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6D28D9"/>
                </a:solidFill>
              </a:defRPr>
            </a:pPr>
            <a:r>
              <a:rPr sz="1950" b="1">
                <a:solidFill>
                  <a:srgbClr val="6D28D9"/>
                </a:solidFill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BD61993-9858-46DD-A626-DEA812163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933575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Contexto del proyecto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AF843C5-7460-473D-8A6A-41FC88A6D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990725"/>
            <a:ext cx="581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Problema, objetivo y alcance funcional.</a:t>
            </a:r>
          </a:p>
        </p:txBody>
      </p:sp>
      <p:sp>
        <p:nvSpPr>
          <p:cNvPr id="7" name="shape">
            <a:extLst xmlns:a="http://schemas.openxmlformats.org/drawingml/2006/main">
              <a:ext uri="{FF2B5EF4-FFF2-40B4-BE49-F238E27FC236}">
                <a16:creationId xmlns:a16="http://schemas.microsoft.com/office/drawing/2014/main" id="{7D68E043-6242-413E-B55B-7BBE7FF32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09825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6DCB0843-8293-48B3-9E0F-0079C2A53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95575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6D28D9"/>
                </a:solidFill>
              </a:defRPr>
            </a:pPr>
            <a:r>
              <a:rPr sz="1950" b="1">
                <a:solidFill>
                  <a:srgbClr val="6D28D9"/>
                </a:solidFill>
              </a:rPr>
              <a:t>02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79508881-3867-4A89-9992-D859929A8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676525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Dominio y reglas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D61D26C1-9FE0-431B-A926-F5E59F13B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733675"/>
            <a:ext cx="581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Usuarios, entidades principales y comportamiento esperado.</a:t>
            </a:r>
          </a:p>
        </p:txBody>
      </p:sp>
      <p:sp>
        <p:nvSpPr>
          <p:cNvPr id="11" name="shape">
            <a:extLst xmlns:a="http://schemas.openxmlformats.org/drawingml/2006/main">
              <a:ext uri="{FF2B5EF4-FFF2-40B4-BE49-F238E27FC236}">
                <a16:creationId xmlns:a16="http://schemas.microsoft.com/office/drawing/2014/main" id="{FEA48625-3C5C-4E72-B64E-6A8B03455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52775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4255633A-2D55-4854-AE84-43EF55F72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38525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6D28D9"/>
                </a:solidFill>
              </a:defRPr>
            </a:pPr>
            <a:r>
              <a:rPr sz="1950" b="1">
                <a:solidFill>
                  <a:srgbClr val="6D28D9"/>
                </a:solidFill>
              </a:rPr>
              <a:t>03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89AA84A7-D8F1-48B4-945C-621AAC96C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419475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Arquitectura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EA1E6732-9A69-4B43-9DAA-A5E59CB2B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476625"/>
            <a:ext cx="581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Como se conectan agente, API, servicios y base de datos.</a:t>
            </a:r>
          </a:p>
        </p:txBody>
      </p:sp>
      <p:sp>
        <p:nvSpPr>
          <p:cNvPr id="15" name="shape">
            <a:extLst xmlns:a="http://schemas.openxmlformats.org/drawingml/2006/main">
              <a:ext uri="{FF2B5EF4-FFF2-40B4-BE49-F238E27FC236}">
                <a16:creationId xmlns:a16="http://schemas.microsoft.com/office/drawing/2014/main" id="{1E2D64C6-6F91-4651-9173-B3A6694DE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95725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6F4F5DF9-1336-49FC-A593-2B683EC6C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81475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6D28D9"/>
                </a:solidFill>
              </a:defRPr>
            </a:pPr>
            <a:r>
              <a:rPr sz="1950" b="1">
                <a:solidFill>
                  <a:srgbClr val="6D28D9"/>
                </a:solidFill>
              </a:rPr>
              <a:t>04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3030127A-6819-4F3A-A0B5-53F4DF51B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162425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Demo funcional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5D6C3F10-F119-41A0-BD4C-04324015C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219575"/>
            <a:ext cx="581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Flujo de disponibilidad, reserva y confirmacion.</a:t>
            </a:r>
          </a:p>
        </p:txBody>
      </p:sp>
      <p:sp>
        <p:nvSpPr>
          <p:cNvPr id="19" name="shape">
            <a:extLst xmlns:a="http://schemas.openxmlformats.org/drawingml/2006/main">
              <a:ext uri="{FF2B5EF4-FFF2-40B4-BE49-F238E27FC236}">
                <a16:creationId xmlns:a16="http://schemas.microsoft.com/office/drawing/2014/main" id="{E45979DD-1FC5-46BE-9ABD-90C0018F5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38675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8BD27D63-45ED-428A-801D-2C78C941A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24425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6D28D9"/>
                </a:solidFill>
              </a:defRPr>
            </a:pPr>
            <a:r>
              <a:rPr sz="1950" b="1">
                <a:solidFill>
                  <a:srgbClr val="6D28D9"/>
                </a:solidFill>
              </a:rPr>
              <a:t>05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C180E363-53B4-4408-9C89-9B2B5DEBF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905375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Evidencia y validacion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2A23ABC2-0E73-45C4-AA4B-6E7CF764F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962525"/>
            <a:ext cx="581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Capturas, comandos ejecutados y auditoria de tests.</a:t>
            </a:r>
          </a:p>
        </p:txBody>
      </p:sp>
      <p:sp>
        <p:nvSpPr>
          <p:cNvPr id="23" name="shape">
            <a:extLst xmlns:a="http://schemas.openxmlformats.org/drawingml/2006/main">
              <a:ext uri="{FF2B5EF4-FFF2-40B4-BE49-F238E27FC236}">
                <a16:creationId xmlns:a16="http://schemas.microsoft.com/office/drawing/2014/main" id="{1E051F25-AB81-4265-A90F-F6AA21404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81625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C6247282-1C9C-40F4-9BEF-4E2D19AA2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Practica PP - Booking con agente IA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476E23EC-A339-464B-AC67-9C9515B13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2/8</a:t>
            </a:r>
          </a:p>
        </p:txBody>
      </p:sp>
    </p:spTree>
    <p:extLst>
      <p:ext uri="{BB962C8B-B14F-4D97-AF65-F5344CB8AC3E}">
        <p14:creationId xmlns:p14="http://schemas.microsoft.com/office/powerpoint/2010/main" val="175599308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FCA17F9F-005C-4EFC-BEE2-75DECF150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D28D9"/>
                </a:solidFill>
              </a:defRPr>
            </a:pPr>
            <a:r>
              <a:rPr sz="1200" b="1">
                <a:solidFill>
                  <a:srgbClr val="6D28D9"/>
                </a:solidFill>
              </a:rPr>
              <a:t>02 / CONTEXTO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4C61B2FC-3603-479B-B7DB-2A315C60C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111"/>
                </a:solidFill>
              </a:defRPr>
            </a:pPr>
            <a:r>
              <a:rPr sz="3300" b="1">
                <a:solidFill>
                  <a:srgbClr val="111111"/>
                </a:solidFill>
              </a:rPr>
              <a:t>Contexto del proyecto</a:t>
            </a:r>
          </a:p>
        </p:txBody>
      </p:sp>
      <p:sp>
        <p:nvSpPr>
          <p:cNvPr id="3" name="shape">
            <a:extLst xmlns:a="http://schemas.openxmlformats.org/drawingml/2006/main">
              <a:ext uri="{FF2B5EF4-FFF2-40B4-BE49-F238E27FC236}">
                <a16:creationId xmlns:a16="http://schemas.microsoft.com/office/drawing/2014/main" id="{2F16C07D-9AA9-4128-9C7A-04E41A6F0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859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FA59F7D4-6091-49F7-A1D5-FEAA4B894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5905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El proyecto organiza reservas de propiedades y permite que distintos perfiles consulten informacion del sistema sin depender de procesos manuales.</a:t>
            </a:r>
          </a:p>
        </p:txBody>
      </p:sp>
      <p:sp>
        <p:nvSpPr>
          <p:cNvPr id="5" name="bullets">
            <a:extLst xmlns:a="http://schemas.openxmlformats.org/drawingml/2006/main">
              <a:ext uri="{FF2B5EF4-FFF2-40B4-BE49-F238E27FC236}">
                <a16:creationId xmlns:a16="http://schemas.microsoft.com/office/drawing/2014/main" id="{D5152B8A-C377-4767-85D3-C5F3A2371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62350"/>
            <a:ext cx="581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Los huespedes necesitan consultar disponibilidad, precios y caracteristicas.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Los anfitriones necesitan revisar reservas y estados pendientes.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El administrador necesita una vision general del sistema.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El agente IA actua como interfaz conversacional sobre datos reales del backend.</a:t>
            </a:r>
          </a:p>
        </p:txBody>
      </p:sp>
      <p:sp>
        <p:nvSpPr>
          <p:cNvPr id="6" name="shape">
            <a:extLst xmlns:a="http://schemas.openxmlformats.org/drawingml/2006/main">
              <a:ext uri="{FF2B5EF4-FFF2-40B4-BE49-F238E27FC236}">
                <a16:creationId xmlns:a16="http://schemas.microsoft.com/office/drawing/2014/main" id="{579B72EE-1D20-4749-BD2F-E24E33080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866900"/>
            <a:ext cx="3714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15B220F-F3A3-4272-BC6B-0294F9019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038350"/>
            <a:ext cx="3295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D28D9"/>
                </a:solidFill>
              </a:defRPr>
            </a:pPr>
            <a:r>
              <a:rPr sz="1650" b="1">
                <a:solidFill>
                  <a:srgbClr val="6D28D9"/>
                </a:solidFill>
              </a:rPr>
              <a:t>Problema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CD343E8-C0C6-43D1-B194-626364F6A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457450"/>
            <a:ext cx="3295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Consultar disponibilidad y crear reservas puede ser lento si se hace manualmente.</a:t>
            </a:r>
          </a:p>
        </p:txBody>
      </p:sp>
      <p:sp>
        <p:nvSpPr>
          <p:cNvPr id="9" name="shape">
            <a:extLst xmlns:a="http://schemas.openxmlformats.org/drawingml/2006/main">
              <a:ext uri="{FF2B5EF4-FFF2-40B4-BE49-F238E27FC236}">
                <a16:creationId xmlns:a16="http://schemas.microsoft.com/office/drawing/2014/main" id="{EDFAD1D2-38FD-402F-A409-D2C6E2BC4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143250"/>
            <a:ext cx="3714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A2BFE203-3BFD-418C-B735-46EF50B7D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314700"/>
            <a:ext cx="3295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Solucion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1D6ABF38-A6BB-4613-B22C-2B82AAE91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733800"/>
            <a:ext cx="3295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Una API centraliza los datos y el agente interpreta consultas naturales.</a:t>
            </a:r>
          </a:p>
        </p:txBody>
      </p:sp>
      <p:sp>
        <p:nvSpPr>
          <p:cNvPr id="12" name="shape">
            <a:extLst xmlns:a="http://schemas.openxmlformats.org/drawingml/2006/main">
              <a:ext uri="{FF2B5EF4-FFF2-40B4-BE49-F238E27FC236}">
                <a16:creationId xmlns:a16="http://schemas.microsoft.com/office/drawing/2014/main" id="{57582404-A790-4B6C-A0DA-CDC750A67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419600"/>
            <a:ext cx="37147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CAC97D04-5B38-4B0A-AE40-C63C939CB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591050"/>
            <a:ext cx="3295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Resultado esperado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AAB4B27F-26D0-4C0A-90A1-4A601A307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5010150"/>
            <a:ext cx="3295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El sistema responde con informacion consistente y registra reservas solo despues de confirmacion.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562C85DD-0EFA-42D6-AE43-D779F57AB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Practica PP - Booking con agente IA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2D98DA76-3CC6-4122-906F-9652DDEE9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3/8</a:t>
            </a:r>
          </a:p>
        </p:txBody>
      </p:sp>
    </p:spTree>
    <p:extLst>
      <p:ext uri="{BB962C8B-B14F-4D97-AF65-F5344CB8AC3E}">
        <p14:creationId xmlns:p14="http://schemas.microsoft.com/office/powerpoint/2010/main" val="33581608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EBBD92B4-B5BB-43EE-95AB-6F32CA434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D28D9"/>
                </a:solidFill>
              </a:defRPr>
            </a:pPr>
            <a:r>
              <a:rPr sz="1200" b="1">
                <a:solidFill>
                  <a:srgbClr val="6D28D9"/>
                </a:solidFill>
              </a:rPr>
              <a:t>03 / CONTEXTO TECNICO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17B0895B-47FE-4697-B06E-A5835B4FF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111"/>
                </a:solidFill>
              </a:defRPr>
            </a:pPr>
            <a:r>
              <a:rPr sz="3300" b="1">
                <a:solidFill>
                  <a:srgbClr val="111111"/>
                </a:solidFill>
              </a:rPr>
              <a:t>Dominio y reglas de negocio</a:t>
            </a:r>
          </a:p>
        </p:txBody>
      </p:sp>
      <p:sp>
        <p:nvSpPr>
          <p:cNvPr id="3" name="shape">
            <a:extLst xmlns:a="http://schemas.openxmlformats.org/drawingml/2006/main">
              <a:ext uri="{FF2B5EF4-FFF2-40B4-BE49-F238E27FC236}">
                <a16:creationId xmlns:a16="http://schemas.microsoft.com/office/drawing/2014/main" id="{91D5B33A-D045-4335-BDE3-EB81FD596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859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90CDF340-BC8C-4303-9C80-1EA7CAAE6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D28D9"/>
                </a:solidFill>
              </a:defRPr>
            </a:pPr>
            <a:r>
              <a:rPr sz="1200" b="1">
                <a:solidFill>
                  <a:srgbClr val="6D28D9"/>
                </a:solidFill>
              </a:rPr>
              <a:t>USUARIOS</a:t>
            </a:r>
          </a:p>
        </p:txBody>
      </p:sp>
      <p:sp>
        <p:nvSpPr>
          <p:cNvPr id="5" name="shape">
            <a:extLst xmlns:a="http://schemas.openxmlformats.org/drawingml/2006/main">
              <a:ext uri="{FF2B5EF4-FFF2-40B4-BE49-F238E27FC236}">
                <a16:creationId xmlns:a16="http://schemas.microsoft.com/office/drawing/2014/main" id="{DF938917-9F89-4CA1-8695-B578D3AC1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2952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00A2483-D3A0-4386-A886-4093544FD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2533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Huesped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C561BF08-C682-40EE-8A14-D31B0C0B9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14650"/>
            <a:ext cx="2533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Consulta propiedades y solicita reservas.</a:t>
            </a:r>
          </a:p>
        </p:txBody>
      </p:sp>
      <p:sp>
        <p:nvSpPr>
          <p:cNvPr id="8" name="shape">
            <a:extLst xmlns:a="http://schemas.openxmlformats.org/drawingml/2006/main">
              <a:ext uri="{FF2B5EF4-FFF2-40B4-BE49-F238E27FC236}">
                <a16:creationId xmlns:a16="http://schemas.microsoft.com/office/drawing/2014/main" id="{B253A4C5-F318-4F1E-AAF4-00C9FC98F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2952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38FEDF79-42B5-4911-9ED0-CEFA6EF51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48100"/>
            <a:ext cx="2533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Anfitrion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DAD5DE3B-E4DE-47B4-BB14-304026033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67200"/>
            <a:ext cx="2533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Consulta reservas asociadas a sus propiedades.</a:t>
            </a:r>
          </a:p>
        </p:txBody>
      </p:sp>
      <p:sp>
        <p:nvSpPr>
          <p:cNvPr id="11" name="shape">
            <a:extLst xmlns:a="http://schemas.openxmlformats.org/drawingml/2006/main">
              <a:ext uri="{FF2B5EF4-FFF2-40B4-BE49-F238E27FC236}">
                <a16:creationId xmlns:a16="http://schemas.microsoft.com/office/drawing/2014/main" id="{7AE17F64-9CBC-4A93-9A33-E299E747A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14900"/>
            <a:ext cx="2952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28A68D50-14B5-4AD9-95FD-A43A9EAD4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86350"/>
            <a:ext cx="2533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Admin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985E825B-538E-4E9A-BB88-76FA15DE0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05450"/>
            <a:ext cx="2533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Puede consultar informacion global del sistema.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4FB6F8D0-2A77-4EFC-974B-F1CA54B50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0002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D28D9"/>
                </a:solidFill>
              </a:defRPr>
            </a:pPr>
            <a:r>
              <a:rPr sz="1200" b="1">
                <a:solidFill>
                  <a:srgbClr val="6D28D9"/>
                </a:solidFill>
              </a:rPr>
              <a:t>MODELOS PRINCIPALES</a:t>
            </a:r>
          </a:p>
        </p:txBody>
      </p:sp>
      <p:sp>
        <p:nvSpPr>
          <p:cNvPr id="15" name="bullets">
            <a:extLst xmlns:a="http://schemas.openxmlformats.org/drawingml/2006/main">
              <a:ext uri="{FF2B5EF4-FFF2-40B4-BE49-F238E27FC236}">
                <a16:creationId xmlns:a16="http://schemas.microsoft.com/office/drawing/2014/main" id="{A860EB41-D346-4908-901F-51C1F2DB1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400300"/>
            <a:ext cx="3429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Usuario: rol, contacto y autenticacion.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Propiedad: datos, ubicacion, precios y amenities.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Reserva: fechas, estado, huesped y propiedad.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Disponibilidad: fechas bloqueadas o reservadas.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Review: resenas reales asociadas a reservas.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F40E0E10-8237-46AA-89B8-EE3E3647D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0002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D28D9"/>
                </a:solidFill>
              </a:defRPr>
            </a:pPr>
            <a:r>
              <a:rPr sz="1200" b="1">
                <a:solidFill>
                  <a:srgbClr val="6D28D9"/>
                </a:solidFill>
              </a:rPr>
              <a:t>REGLAS CLAVE</a:t>
            </a:r>
          </a:p>
        </p:txBody>
      </p:sp>
      <p:sp>
        <p:nvSpPr>
          <p:cNvPr id="17" name="bullets">
            <a:extLst xmlns:a="http://schemas.openxmlformats.org/drawingml/2006/main">
              <a:ext uri="{FF2B5EF4-FFF2-40B4-BE49-F238E27FC236}">
                <a16:creationId xmlns:a16="http://schemas.microsoft.com/office/drawing/2014/main" id="{EF4448A5-A400-40C4-A1E5-4918A9FAD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00300"/>
            <a:ext cx="304800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No se crea una reserva sin confirmacion explicita.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Una reserva pendiente o confirmada bloquea disponibilidad.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El agente no consulta internet ni inventa datos externos.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Las respuestas dependen del rol del usuario.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El backend calcula precios y valida rangos de fechas.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E0457B5C-DA70-40F5-8293-2DB0DDACC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Practica PP - Booking con agente IA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6AC87DC6-AA54-4E29-B224-83A421E9B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4/8</a:t>
            </a:r>
          </a:p>
        </p:txBody>
      </p:sp>
    </p:spTree>
    <p:extLst>
      <p:ext uri="{BB962C8B-B14F-4D97-AF65-F5344CB8AC3E}">
        <p14:creationId xmlns:p14="http://schemas.microsoft.com/office/powerpoint/2010/main" val="161479378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2A74441B-D8B6-491F-8040-E28719672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D28D9"/>
                </a:solidFill>
              </a:defRPr>
            </a:pPr>
            <a:r>
              <a:rPr sz="1200" b="1">
                <a:solidFill>
                  <a:srgbClr val="6D28D9"/>
                </a:solidFill>
              </a:rPr>
              <a:t>04 / SOLUCION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77F3CB37-9880-4FCC-BDE4-D1482D2DA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111"/>
                </a:solidFill>
              </a:defRPr>
            </a:pPr>
            <a:r>
              <a:rPr sz="3300" b="1">
                <a:solidFill>
                  <a:srgbClr val="111111"/>
                </a:solidFill>
              </a:rPr>
              <a:t>Arquitectura de la solucion</a:t>
            </a:r>
          </a:p>
        </p:txBody>
      </p:sp>
      <p:sp>
        <p:nvSpPr>
          <p:cNvPr id="3" name="shape">
            <a:extLst xmlns:a="http://schemas.openxmlformats.org/drawingml/2006/main">
              <a:ext uri="{FF2B5EF4-FFF2-40B4-BE49-F238E27FC236}">
                <a16:creationId xmlns:a16="http://schemas.microsoft.com/office/drawing/2014/main" id="{A8B963B3-2921-488D-A694-AC5537444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859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hape">
            <a:extLst xmlns:a="http://schemas.openxmlformats.org/drawingml/2006/main">
              <a:ext uri="{FF2B5EF4-FFF2-40B4-BE49-F238E27FC236}">
                <a16:creationId xmlns:a16="http://schemas.microsoft.com/office/drawing/2014/main" id="{8AA27C7F-B69E-400F-8F48-F4F440B63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81250"/>
            <a:ext cx="17526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39DA600-EAF5-4FE4-87A9-7528F147D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5270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Usuario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E739BEE-48FF-437D-A40E-3BF2C38E0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71800"/>
            <a:ext cx="1333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Pregunta en lenguaje natural o consume la API.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FF41C102-6EEA-43CD-8532-ED0D0C273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857500"/>
            <a:ext cx="38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6D28D9"/>
                </a:solidFill>
              </a:defRPr>
            </a:pPr>
            <a:r>
              <a:rPr sz="2700" b="1">
                <a:solidFill>
                  <a:srgbClr val="6D28D9"/>
                </a:solidFill>
              </a:rPr>
              <a:t>→</a:t>
            </a:r>
          </a:p>
        </p:txBody>
      </p:sp>
      <p:sp>
        <p:nvSpPr>
          <p:cNvPr id="8" name="shape">
            <a:extLst xmlns:a="http://schemas.openxmlformats.org/drawingml/2006/main">
              <a:ext uri="{FF2B5EF4-FFF2-40B4-BE49-F238E27FC236}">
                <a16:creationId xmlns:a16="http://schemas.microsoft.com/office/drawing/2014/main" id="{E12C8284-436E-4D83-ACAB-E05865D5D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381250"/>
            <a:ext cx="17526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AC388AE3-D336-4369-9DE5-EEEFDFDBE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55270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D28D9"/>
                </a:solidFill>
              </a:defRPr>
            </a:pPr>
            <a:r>
              <a:rPr sz="1650" b="1">
                <a:solidFill>
                  <a:srgbClr val="6D28D9"/>
                </a:solidFill>
              </a:rPr>
              <a:t>Agente IA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3CF53AF-58DD-4A42-838D-48DFD6D7F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971800"/>
            <a:ext cx="1333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Detecta intencion, fechas, propiedad y rol.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C986D50E-01DF-4861-9B7D-A637592DB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857500"/>
            <a:ext cx="38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6D28D9"/>
                </a:solidFill>
              </a:defRPr>
            </a:pPr>
            <a:r>
              <a:rPr sz="2700" b="1">
                <a:solidFill>
                  <a:srgbClr val="6D28D9"/>
                </a:solidFill>
              </a:rPr>
              <a:t>→</a:t>
            </a:r>
          </a:p>
        </p:txBody>
      </p:sp>
      <p:sp>
        <p:nvSpPr>
          <p:cNvPr id="12" name="shape">
            <a:extLst xmlns:a="http://schemas.openxmlformats.org/drawingml/2006/main">
              <a:ext uri="{FF2B5EF4-FFF2-40B4-BE49-F238E27FC236}">
                <a16:creationId xmlns:a16="http://schemas.microsoft.com/office/drawing/2014/main" id="{87CECCEB-5606-4E46-8B9E-E9008953E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381250"/>
            <a:ext cx="17526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D27317B0-01D9-4628-88AC-4737D062D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55270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API REST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6D62A8A0-B3F2-4F72-A3FA-CF807C0C3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971800"/>
            <a:ext cx="1333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Expone endpoints con Django REST Framework.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1AAC54AB-5100-46C6-8128-4BC996F81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57500"/>
            <a:ext cx="38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6D28D9"/>
                </a:solidFill>
              </a:defRPr>
            </a:pPr>
            <a:r>
              <a:rPr sz="2700" b="1">
                <a:solidFill>
                  <a:srgbClr val="6D28D9"/>
                </a:solidFill>
              </a:rPr>
              <a:t>→</a:t>
            </a:r>
          </a:p>
        </p:txBody>
      </p:sp>
      <p:sp>
        <p:nvSpPr>
          <p:cNvPr id="16" name="shape">
            <a:extLst xmlns:a="http://schemas.openxmlformats.org/drawingml/2006/main">
              <a:ext uri="{FF2B5EF4-FFF2-40B4-BE49-F238E27FC236}">
                <a16:creationId xmlns:a16="http://schemas.microsoft.com/office/drawing/2014/main" id="{236EBB3B-FF6D-4861-855A-F0DAEA919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381250"/>
            <a:ext cx="17526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92C1109D-4FC3-4E53-AE71-ECBD767C8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55270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Servicios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299EAB9C-E831-4834-8FFD-4C5AA2A21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971800"/>
            <a:ext cx="1333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Centraliza reglas de reservas y disponibilidad.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C2C9A98C-293D-4B79-8012-9E2D679CD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57500"/>
            <a:ext cx="38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6D28D9"/>
                </a:solidFill>
              </a:defRPr>
            </a:pPr>
            <a:r>
              <a:rPr sz="2700" b="1">
                <a:solidFill>
                  <a:srgbClr val="6D28D9"/>
                </a:solidFill>
              </a:rPr>
              <a:t>→</a:t>
            </a:r>
          </a:p>
        </p:txBody>
      </p:sp>
      <p:sp>
        <p:nvSpPr>
          <p:cNvPr id="20" name="shape">
            <a:extLst xmlns:a="http://schemas.openxmlformats.org/drawingml/2006/main">
              <a:ext uri="{FF2B5EF4-FFF2-40B4-BE49-F238E27FC236}">
                <a16:creationId xmlns:a16="http://schemas.microsoft.com/office/drawing/2014/main" id="{9FC6D30B-201B-4705-A962-797768F30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381250"/>
            <a:ext cx="17526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2505370C-2A58-4114-99B1-A04C95281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55270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Base de datos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FA297841-84F9-4B84-9C4D-E631AA404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971800"/>
            <a:ext cx="1333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Persiste usuarios, propiedades, reservas y resenas.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5033D05C-C92D-4461-AC4B-3697762D0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148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6D28D9"/>
                </a:solidFill>
              </a:defRPr>
            </a:pPr>
            <a:r>
              <a:rPr sz="1950" b="1">
                <a:solidFill>
                  <a:srgbClr val="6D28D9"/>
                </a:solidFill>
              </a:rPr>
              <a:t>Endpoints principales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5E2A559D-C5C7-4E26-8D29-95CE47A6E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720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/api/agent/chat/  |  /api/availability/  |  /api/reservations/  |  /api/properties/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59CF6196-1D2A-433E-B0B7-607A569AE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673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La separacion entre vistas, agente y servicios ayuda a mantener reglas de negocio testeables y reutilizables.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C67FB6ED-D15B-4A28-8175-3090C10CF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Practica PP - Booking con agente IA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465D4502-9B9A-474B-A6B3-94854B262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5/8</a:t>
            </a:r>
          </a:p>
        </p:txBody>
      </p:sp>
    </p:spTree>
    <p:extLst>
      <p:ext uri="{BB962C8B-B14F-4D97-AF65-F5344CB8AC3E}">
        <p14:creationId xmlns:p14="http://schemas.microsoft.com/office/powerpoint/2010/main" val="43105353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D9E3A6AD-22E2-4C6B-9F4E-E49D52686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D28D9"/>
                </a:solidFill>
              </a:defRPr>
            </a:pPr>
            <a:r>
              <a:rPr sz="1200" b="1">
                <a:solidFill>
                  <a:srgbClr val="6D28D9"/>
                </a:solidFill>
              </a:rPr>
              <a:t>05 / DEMO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D0C97383-5F9F-4B93-A792-78FB4FD71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111"/>
                </a:solidFill>
              </a:defRPr>
            </a:pPr>
            <a:r>
              <a:rPr sz="3300" b="1">
                <a:solidFill>
                  <a:srgbClr val="111111"/>
                </a:solidFill>
              </a:rPr>
              <a:t>Demo funcional propuesta</a:t>
            </a:r>
          </a:p>
        </p:txBody>
      </p:sp>
      <p:sp>
        <p:nvSpPr>
          <p:cNvPr id="3" name="shape">
            <a:extLst xmlns:a="http://schemas.openxmlformats.org/drawingml/2006/main">
              <a:ext uri="{FF2B5EF4-FFF2-40B4-BE49-F238E27FC236}">
                <a16:creationId xmlns:a16="http://schemas.microsoft.com/office/drawing/2014/main" id="{74F10751-9C87-42F1-A597-0F38D2E09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859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hape">
            <a:extLst xmlns:a="http://schemas.openxmlformats.org/drawingml/2006/main">
              <a:ext uri="{FF2B5EF4-FFF2-40B4-BE49-F238E27FC236}">
                <a16:creationId xmlns:a16="http://schemas.microsoft.com/office/drawing/2014/main" id="{F2B18C34-8BE4-49CB-B441-3B274DBF1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238125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83735E3-500A-46EB-9E86-C48F1B2C3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09800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D28D9"/>
                </a:solidFill>
              </a:defRPr>
            </a:pPr>
            <a:r>
              <a:rPr sz="1650" b="1">
                <a:solidFill>
                  <a:srgbClr val="6D28D9"/>
                </a:solidFill>
              </a:rPr>
              <a:t>1. Disponibilidad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7AAEA6F-4C29-44F2-A83C-32CC9D757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28900"/>
            <a:ext cx="1962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Consultar propiedades disponibles entre dos fechas y para cierta cantidad de personas.</a:t>
            </a:r>
          </a:p>
        </p:txBody>
      </p:sp>
      <p:sp>
        <p:nvSpPr>
          <p:cNvPr id="7" name="shape">
            <a:extLst xmlns:a="http://schemas.openxmlformats.org/drawingml/2006/main">
              <a:ext uri="{FF2B5EF4-FFF2-40B4-BE49-F238E27FC236}">
                <a16:creationId xmlns:a16="http://schemas.microsoft.com/office/drawing/2014/main" id="{0BF2F541-650E-4F30-9DB4-1675ACABA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038350"/>
            <a:ext cx="238125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DF35704-6F72-4C6E-A8E8-429AF693F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209800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2. Solicitud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13A61850-0A1F-4722-AA46-C99FDE1DA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628900"/>
            <a:ext cx="1962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Pedir una reserva para una propiedad especifica desde el agente conversacional.</a:t>
            </a:r>
          </a:p>
        </p:txBody>
      </p:sp>
      <p:sp>
        <p:nvSpPr>
          <p:cNvPr id="10" name="shape">
            <a:extLst xmlns:a="http://schemas.openxmlformats.org/drawingml/2006/main">
              <a:ext uri="{FF2B5EF4-FFF2-40B4-BE49-F238E27FC236}">
                <a16:creationId xmlns:a16="http://schemas.microsoft.com/office/drawing/2014/main" id="{A608CCC1-92FD-47A3-8640-A16477DFE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38350"/>
            <a:ext cx="238125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04DB134B-0FB2-46F9-9ECA-4CA937980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09800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D28D9"/>
                </a:solidFill>
              </a:defRPr>
            </a:pPr>
            <a:r>
              <a:rPr sz="1650" b="1">
                <a:solidFill>
                  <a:srgbClr val="6D28D9"/>
                </a:solidFill>
              </a:rPr>
              <a:t>3. Confirmacion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DF27DC43-497F-4E88-B02F-06D390D47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28900"/>
            <a:ext cx="1962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Mostrar que el agente devuelve pending_action y espera confirmacion explicita.</a:t>
            </a:r>
          </a:p>
        </p:txBody>
      </p:sp>
      <p:sp>
        <p:nvSpPr>
          <p:cNvPr id="13" name="shape">
            <a:extLst xmlns:a="http://schemas.openxmlformats.org/drawingml/2006/main">
              <a:ext uri="{FF2B5EF4-FFF2-40B4-BE49-F238E27FC236}">
                <a16:creationId xmlns:a16="http://schemas.microsoft.com/office/drawing/2014/main" id="{50A5C134-93DD-4F5B-B372-493DDB62B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038350"/>
            <a:ext cx="238125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BD8BEB5F-333E-4C77-86F8-C9BA1ADFD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209800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4. Registro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FCD67E53-CEB0-4D4D-9BCE-4D1E51734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628900"/>
            <a:ext cx="1962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Confirmar la accion y verificar que se crea la reserva y se marcan fechas.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4A7DA75F-67C1-49E2-AF68-6FF8079ED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05400"/>
            <a:ext cx="990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6D28D9"/>
                </a:solidFill>
              </a:defRPr>
            </a:pPr>
            <a:r>
              <a:rPr sz="1950" b="1">
                <a:solidFill>
                  <a:srgbClr val="6D28D9"/>
                </a:solidFill>
              </a:rPr>
              <a:t>La demo evidencia el flujo completo: consulta -&gt; interpretacion -&gt; validacion -&gt; confirmacion -&gt; persistencia.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B806B735-5914-4F04-9E7A-328C8A991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Practica PP - Booking con agente IA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C60B81C4-EF48-4906-8355-E575C8619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6/8</a:t>
            </a:r>
          </a:p>
        </p:txBody>
      </p:sp>
    </p:spTree>
    <p:extLst>
      <p:ext uri="{BB962C8B-B14F-4D97-AF65-F5344CB8AC3E}">
        <p14:creationId xmlns:p14="http://schemas.microsoft.com/office/powerpoint/2010/main" val="49986887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DEF37274-7AF6-4170-A816-258B0C900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D28D9"/>
                </a:solidFill>
              </a:defRPr>
            </a:pPr>
            <a:r>
              <a:rPr sz="1200" b="1">
                <a:solidFill>
                  <a:srgbClr val="6D28D9"/>
                </a:solidFill>
              </a:rPr>
              <a:t>06 / EVIDENCIA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18A6B832-BE0F-4BF9-993E-2C0E76A10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111"/>
                </a:solidFill>
              </a:defRPr>
            </a:pPr>
            <a:r>
              <a:rPr sz="3300" b="1">
                <a:solidFill>
                  <a:srgbClr val="111111"/>
                </a:solidFill>
              </a:rPr>
              <a:t>Evidencia visual del flujo</a:t>
            </a:r>
          </a:p>
        </p:txBody>
      </p:sp>
      <p:sp>
        <p:nvSpPr>
          <p:cNvPr id="3" name="shape">
            <a:extLst xmlns:a="http://schemas.openxmlformats.org/drawingml/2006/main">
              <a:ext uri="{FF2B5EF4-FFF2-40B4-BE49-F238E27FC236}">
                <a16:creationId xmlns:a16="http://schemas.microsoft.com/office/drawing/2014/main" id="{CE1F46FF-E3C4-41C6-95F4-C175C3113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859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aab2f203e741c8"/>
          <a:stretch xmlns:a="http://schemas.openxmlformats.org/drawingml/2006/main"/>
        </p:blipFill>
        <p:spPr>
          <a:xfrm xmlns:a="http://schemas.openxmlformats.org/drawingml/2006/main">
            <a:off x="533400" y="2163600"/>
            <a:ext cx="5191125" cy="2587951"/>
          </a:xfrm>
          <a:prstGeom xmlns:a="http://schemas.openxmlformats.org/drawingml/2006/main" prst="rect">
            <a:avLst/>
          </a:prstGeom>
        </p:spPr>
      </p:pic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39bc2896014937"/>
          <a:stretch xmlns:a="http://schemas.openxmlformats.org/drawingml/2006/main"/>
        </p:blipFill>
        <p:spPr>
          <a:xfrm xmlns:a="http://schemas.openxmlformats.org/drawingml/2006/main">
            <a:off x="6457950" y="2294179"/>
            <a:ext cx="5191125" cy="2326791"/>
          </a:xfrm>
          <a:prstGeom xmlns:a="http://schemas.openxmlformats.org/drawingml/2006/main" prst="rect">
            <a:avLst/>
          </a:prstGeom>
        </p:spPr>
      </p:pic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410C200-F291-4F3B-AD60-842492992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19700"/>
            <a:ext cx="519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Confirmacion previa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504D890D-AC76-430A-998D-C5BC82D7F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219700"/>
            <a:ext cx="519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Reserva registrada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385DFEC-BCBF-4658-A4FA-C9BE606B1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Practica PP - Booking con agente IA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06159FC6-A2D0-448F-A276-F672B3575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7/8</a:t>
            </a:r>
          </a:p>
        </p:txBody>
      </p:sp>
    </p:spTree>
    <p:extLst>
      <p:ext uri="{BB962C8B-B14F-4D97-AF65-F5344CB8AC3E}">
        <p14:creationId xmlns:p14="http://schemas.microsoft.com/office/powerpoint/2010/main" val="75861128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CDE9311A-1E4F-491A-9A67-C0C724943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D28D9"/>
                </a:solidFill>
              </a:defRPr>
            </a:pPr>
            <a:r>
              <a:rPr sz="1200" b="1">
                <a:solidFill>
                  <a:srgbClr val="6D28D9"/>
                </a:solidFill>
              </a:rPr>
              <a:t>07 / CIERRE TECNICO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79222D5E-83C1-439C-8D99-B10795537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111"/>
                </a:solidFill>
              </a:defRPr>
            </a:pPr>
            <a:r>
              <a:rPr sz="3300" b="1">
                <a:solidFill>
                  <a:srgbClr val="111111"/>
                </a:solidFill>
              </a:rPr>
              <a:t>Validacion y auditoria de tests</a:t>
            </a:r>
          </a:p>
        </p:txBody>
      </p:sp>
      <p:sp>
        <p:nvSpPr>
          <p:cNvPr id="3" name="shape">
            <a:extLst xmlns:a="http://schemas.openxmlformats.org/drawingml/2006/main">
              <a:ext uri="{FF2B5EF4-FFF2-40B4-BE49-F238E27FC236}">
                <a16:creationId xmlns:a16="http://schemas.microsoft.com/office/drawing/2014/main" id="{09EE98AD-BF05-4C61-86E3-E3EB7573E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859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63B1B5E1-86DA-4E73-A15C-D36E42517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6D28D9"/>
                </a:solidFill>
              </a:defRPr>
            </a:pPr>
            <a:r>
              <a:rPr sz="2250" b="1">
                <a:solidFill>
                  <a:srgbClr val="6D28D9"/>
                </a:solidFill>
              </a:rPr>
              <a:t>Validacion ejecutada</a:t>
            </a:r>
          </a:p>
        </p:txBody>
      </p:sp>
      <p:sp>
        <p:nvSpPr>
          <p:cNvPr id="5" name="bullets">
            <a:extLst xmlns:a="http://schemas.openxmlformats.org/drawingml/2006/main">
              <a:ext uri="{FF2B5EF4-FFF2-40B4-BE49-F238E27FC236}">
                <a16:creationId xmlns:a16="http://schemas.microsoft.com/office/drawing/2014/main" id="{D9A19CF7-EC18-4535-949C-6106D4637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4762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python manage.py check: sin issues.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Migraciones: sin cambios pendientes.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python manage.py test presupuesto: 9 tests OK.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22604FE-9C2B-427D-A43D-CD5EA3E7C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434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Cobertura actual</a:t>
            </a:r>
          </a:p>
        </p:txBody>
      </p:sp>
      <p:sp>
        <p:nvSpPr>
          <p:cNvPr id="7" name="bullets">
            <a:extLst xmlns:a="http://schemas.openxmlformats.org/drawingml/2006/main">
              <a:ext uri="{FF2B5EF4-FFF2-40B4-BE49-F238E27FC236}">
                <a16:creationId xmlns:a16="http://schemas.microsoft.com/office/drawing/2014/main" id="{76C20778-F8C9-49A1-BFD2-057AF2232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0"/>
            <a:ext cx="4762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Disponibilidad, confirmacion de reserva, roles y resenas.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Parsing de fechas naturales e impacto en disponibilidad.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6C6F298-257F-4AFC-B7C7-07F3DA685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002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6B35"/>
                </a:solidFill>
              </a:defRPr>
            </a:pPr>
            <a:r>
              <a:rPr sz="2250" b="1">
                <a:solidFill>
                  <a:srgbClr val="FF6B35"/>
                </a:solidFill>
              </a:rPr>
              <a:t>Mejoras priorizadas</a:t>
            </a:r>
          </a:p>
        </p:txBody>
      </p:sp>
      <p:sp>
        <p:nvSpPr>
          <p:cNvPr id="9" name="bullets">
            <a:extLst xmlns:a="http://schemas.openxmlformats.org/drawingml/2006/main">
              <a:ext uri="{FF2B5EF4-FFF2-40B4-BE49-F238E27FC236}">
                <a16:creationId xmlns:a16="http://schemas.microsoft.com/office/drawing/2014/main" id="{B9B18D94-9DFB-4540-812B-460566AD7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71750"/>
            <a:ext cx="428625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Solapamiento de reservas.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Liberacion al cancelar o rechazar.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Rangos invalidos.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Propiedades pausadas o inactivas.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Confirmacion invalida sin pending_action.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81152E24-152D-4A42-9864-CA699A692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010150"/>
            <a:ext cx="428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D28D9"/>
                </a:solidFill>
              </a:defRPr>
            </a:pPr>
            <a:r>
              <a:rPr sz="1650" b="1">
                <a:solidFill>
                  <a:srgbClr val="6D28D9"/>
                </a:solidFill>
              </a:rPr>
              <a:t>Conclusion: la version 1.0.0 queda identificada con README, evidencias, tests y tag publicado.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735CAC15-BEAC-4EEB-B6CD-87C031350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Practica PP - Booking con agente IA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F5925247-C869-48DB-8E08-C272E7941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8/8</a:t>
            </a:r>
          </a:p>
        </p:txBody>
      </p:sp>
    </p:spTree>
    <p:extLst>
      <p:ext uri="{BB962C8B-B14F-4D97-AF65-F5344CB8AC3E}">
        <p14:creationId xmlns:p14="http://schemas.microsoft.com/office/powerpoint/2010/main" val="8312161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2026-06-29T14:03:35.8890000Z</dcterms:created>
  <dcterms:modified xsi:type="dcterms:W3CDTF">2026-06-29T14:03:35.8890000Z</dcterms:modified>
</coreProperties>
</file>